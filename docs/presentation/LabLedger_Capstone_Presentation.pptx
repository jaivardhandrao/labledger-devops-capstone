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original campus equipment-loan domain. Identify yourself as Jaivardhan D Rao, roll 10117, Group A.</a:t>
            </a:r>
          </a:p>
          <a:p>
            <a:r>
              <a:t>The screenshot is a genuine earlier School-profile capture of local Kubernetes, not AWS. Every displayed loan is fictional.</a:t>
            </a:r>
          </a:p>
          <a:p>
            <a:r>
              <a:t>State the scope accurately: the application, CI and local Kubernetes have run; real AWS apply and teardown remain pending approval.</a:t>
            </a:r>
          </a:p>
          <a:p>
            <a:r>
              <a:t>The slides support a live presentation. The separate short video records only the actual local Terminal evidence, not a complete browser 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borrowing request moves through requested, collected and returned. Only a collected loan past its due date is overdue.</a:t>
            </a:r>
          </a:p>
          <a:p>
            <a:r>
              <a:t>A date has no UTC offset; the application evaluates today in Asia/Kolkata. Returning an item updates the statistics.</a:t>
            </a:r>
          </a:p>
          <a:p>
            <a:r>
              <a:t>Explain the responsive table, keyboard access, filters and create/edit dialogs. The mobile capture is genuine and predates the later footer-only delivery change.</a:t>
            </a:r>
          </a:p>
          <a:p>
            <a:r>
              <a:t>For the live demo open localhost:8088 only in the School Chrome profile; create and remove a temporary fictional loan only when that write is authorized.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browser sends relative /api requests. Compose Nginx resolves the backend service; Kubernetes Ingress routes /api directly to the API ClusterIP Service.</a:t>
            </a:r>
          </a:p>
          <a:p>
            <a:r>
              <a:t>The frontend serves static React assets. The backend validates inputs and persists loans through SQLAlchemy in PostgreSQL, with Alembic owning schema migration.</a:t>
            </a:r>
          </a:p>
          <a:p>
            <a:r>
              <a:t>Prometheus scrapes both backend replicas and Grafana queries Prometheus. Metrics Server is a separate HPA dependency.</a:t>
            </a:r>
          </a:p>
          <a:p>
            <a:r>
              <a:t>Kubernetes API and monitoring UIs are not public in this local demonstration. A real cloud public endpoint has not been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image is a native Terminal screenshot of the actual completed CI pytest output, part 2 of 2; it is explicitly not a fresh rerun. Both captures together show every test-result line.</a:t>
            </a:r>
          </a:p>
          <a:p>
            <a:r>
              <a:t>The full evidence/pytest.txt contains all 35 passing API/migration tests. Tests isolate their SQLite database and mock dependencies; they do not use the running PostgreSQL data.</a:t>
            </a:r>
          </a:p>
          <a:p>
            <a:r>
              <a:t>Mention invalid-input rejection, PUT replacement semantics, stats after return/delete, readiness failure and bounded metric route labels.</a:t>
            </a:r>
          </a:p>
          <a:p>
            <a:r>
              <a:t>Separate real HTTP checks exercised the PostgreSQL/Compose path. The latest successful GitHub pipeline also ran the backend tests and nine frontend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fresh actual native Terminal capture. The Compose service is named database, while the Kubernetes StatefulSet is named labledger-postgres.</a:t>
            </a:r>
          </a:p>
          <a:p>
            <a:r>
              <a:t>The API runs as UID10001 and frontend as UID101. The frontend is a Node-build to unprivileged-Nginx multi-stage image.</a:t>
            </a:r>
          </a:p>
          <a:p>
            <a:r>
              <a:t>The read-only PostgreSQL session lists alembic_version and loans. No database record or schema was changed for this capture.</a:t>
            </a:r>
          </a:p>
          <a:p>
            <a:r>
              <a:t>A prior forced backend IP-change check verified proxy DNS recovery and data preservation; see the original raw evidence. No images were rebuilt during this presentation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meaningful history and actual completed main-push run38915964006, all seven jobs green for source5cb1c80.</a:t>
            </a:r>
          </a:p>
          <a:p>
            <a:r>
              <a:t>The earlier visible footer change went through runs38909132624 and38909739859. Helm4 rejected the first promotion preflight flag, so no deployment was claimed for that failure.</a:t>
            </a:r>
          </a:p>
          <a:p>
            <a:r>
              <a:t>The repaired c2f4acf revision then passed CI and completed exact-Git-archive promotion: two Ready API and UI replicas, new footer served, old footer absent.</a:t>
            </a:r>
          </a:p>
          <a:p>
            <a:r>
              <a:t>The current source-only cloud-preparation commit5cb1c80 is green but is not claimed deployed locally. Full SHAs identify images; the workflow does not deploy automatically to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the initial Debian-based backend image failed strict HIGH/CRITICAL scanning. Its original failed report was retained.</a:t>
            </a:r>
          </a:p>
          <a:p>
            <a:r>
              <a:t>Replacing the runtime with Alpine and rebuilding produced clean backend/frontend reports. Both amd64 and arm64 images must pass before canonical multiarch publication.</a:t>
            </a:r>
          </a:p>
          <a:p>
            <a:r>
              <a:t>Trivy uses HIGH,CRITICAL with ignore-unfixed=false and exit-code1; no broad ignore gate was added. All four actual downloaded current CI reports have zero HIGH/CRITICAL findings.</a:t>
            </a:r>
          </a:p>
          <a:p>
            <a:r>
              <a:t>A clean container scan is a bounded observation, not proof of total application security. Separate exact-credential and secret scans checked the public tree/history; credentials and local state stay outside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exact labledger-capstone context rather than relying on the current global context. The older coursework cluster is preserved.</a:t>
            </a:r>
          </a:p>
          <a:p>
            <a:r>
              <a:t>Both UI and API Deployments have two Ready replicas. Their Services are ClusterIP. PostgreSQL is a StatefulSet with a PVC; the migration Job completed successfully.</a:t>
            </a:r>
          </a:p>
          <a:p>
            <a:r>
              <a:t>A Completed migration Job is expected and does not mean application Pods are unhealthy. Probes gate application readiness on migration/database state.</a:t>
            </a:r>
          </a:p>
          <a:p>
            <a:r>
              <a:t>The local storage class is standard, not the prepared AWS gp3 class. These are genuine local Kubernetes results, not EKS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retained original load/drill logs; this evidence is historical and no new fault or load is injected during this presentation capture.</a:t>
            </a:r>
          </a:p>
          <a:p>
            <a:r>
              <a:t>The actual HPA rose from 2 to 4 Ready API Pods under CPU load and later returned to 2. The persistent read load recorded 2338 requests with zero failures.</a:t>
            </a:r>
          </a:p>
          <a:p>
            <a:r>
              <a:t>A deliberately broken Service selector produced503/no endpoints; restoring the selector restored200. One earlier drill was affected by controller reconciliation and is retained separately.</a:t>
            </a:r>
          </a:p>
          <a:p>
            <a:r>
              <a:t>Explain readiness vs liveness, Service selectors vs Pod labels, and why Metrics Server and CPU requests are required for HPA. HPA scales Pods, not worker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genuine unfiltered School-profile browser screenshot after the documented local-only configuration repair:14 applicable targets UP across13 pools.</a:t>
            </a:r>
          </a:p>
          <a:p>
            <a:r>
              <a:t>The original three optional loopback-only control-plane endpoint failures are still retained. Their endpoints did not become reachable; the local override excludes those inapplicable component scrapes.</a:t>
            </a:r>
          </a:p>
          <a:p>
            <a:r>
              <a:t>Both API replicas remain scraped. Grafana authenticated API previously returned the six-panel dashboard with positive actual traffic samples, but no populated browser screenshot is claimed.</a:t>
            </a:r>
          </a:p>
          <a:p>
            <a:r>
              <a:t>Open the real Grafana UI using legitimate private login in the School profile. Never show a login page or dashboard JSON as evidence of a populated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actual read-only personal-account plan proposes62 creates, zero changes and zero deletes. Nine mock tests and provider validation passed, but these are not proof of a running EKS cluster.</a:t>
            </a:r>
          </a:p>
          <a:p>
            <a:r>
              <a:t>The proposed isolated Mumbai environment contains a VPC, two public/two private subnets, one NAT, one EKS cluster/worker and a Terraform-owned HTTP NLB.</a:t>
            </a:r>
          </a:p>
          <a:p>
            <a:r>
              <a:t>Official API prices support a two-hour bounded illustrative estimate of2.432349USD before tax; the approved conditional ceiling is10USD/max2h. This is not a hard automated billing cap.</a:t>
            </a:r>
          </a:p>
          <a:p>
            <a:r>
              <a:t>Exact IAM/temporary admin/controller RBAC/public-network and package-visibility decisions remain pending. No access grant, AWS resource, cost, Console screenshot or destroy success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PDF or editable slides as a speaking guide. Play the separate native Terminal-only recording as supporting evidence, not a claim that the complete app/browser demo was recorded.</a:t>
            </a:r>
          </a:p>
          <a:p>
            <a:r>
              <a:t>For a full live/remote walkthrough, open local UI/Swagger/Prometheus/Grafana in the School Chrome profile, show the genuine green run and package pages, and explain the retained change-to-rollout sequence.</a:t>
            </a:r>
          </a:p>
          <a:p>
            <a:r>
              <a:t>Finish any actual AWS work only after the pending access/visibility decisions and legitimate Console authentication. Capture and clean up real resources before claiming the cloud module.</a:t>
            </a:r>
          </a:p>
          <a:p>
            <a:r>
              <a:t>The school form is filled for Jaivardhan D Rao, Group A, roll 10117 and the official SST email. The user reviews and submits manually. No submission or receipt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hyperlink" Target="https://github.com/jaivardhandrao/labledger-devops-capstone/actions/runs/3891596400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jaivardhandrao/labledger-devops-capston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A7E2DD"/>
                </a:solidFill>
                <a:latin typeface="Arial"/>
              </a:defRPr>
            </a:pPr>
            <a:r>
              <a:t>DEVOPS FINAL CAPSTONE · LOCAL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LabLedger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BDAE3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BDAE3"/>
                </a:solidFill>
                <a:latin typeface="Arial"/>
              </a:defRPr>
            </a:pPr>
            <a:r>
              <a:t>01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625600"/>
            <a:ext cx="40386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Shared equipment.</a:t>
            </a:r>
          </a:p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Clear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3200400"/>
            <a:ext cx="3873499" cy="641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CBDAE3"/>
                </a:solidFill>
                <a:latin typeface="Arial"/>
              </a:defRPr>
            </a:pPr>
            <a:r>
              <a:t>React · FastAPI · PostgreSQL</a:t>
            </a:r>
          </a:p>
          <a:p>
            <a:pPr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CBDAE3"/>
                </a:solidFill>
                <a:latin typeface="Arial"/>
              </a:defRPr>
            </a:pPr>
            <a:r>
              <a:t>Docker · CI · Helm ·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800" y="4508500"/>
            <a:ext cx="3721100" cy="1092200"/>
          </a:xfrm>
          <a:prstGeom prst="roundRect">
            <a:avLst>
              <a:gd name="adj" fmla="val 12000"/>
            </a:avLst>
          </a:prstGeom>
          <a:solidFill>
            <a:srgbClr val="1E4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99000"/>
            <a:ext cx="3302000" cy="244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7E2DD"/>
                </a:solidFill>
                <a:latin typeface="Arial"/>
              </a:defRPr>
            </a:pPr>
            <a:r>
              <a:t>VERIFIED LOCALLY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054600"/>
            <a:ext cx="3302000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Cloud execution is still pending.</a:t>
            </a:r>
          </a:p>
        </p:txBody>
      </p:sp>
      <p:pic>
        <p:nvPicPr>
          <p:cNvPr id="12" name="Picture 11" descr="ui-kubernetes-desktop-80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712169"/>
            <a:ext cx="6540500" cy="403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01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One clear equipment-loan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435100"/>
            <a:ext cx="6858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Request → collect →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1828800"/>
            <a:ext cx="68580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A lab desk records the borrower, equipment and return 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327275"/>
            <a:ext cx="6858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Overdue has a precise meaning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720975"/>
            <a:ext cx="6858000" cy="577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Collected + due date before today in Asia/Kolkata. Requested loans are</a:t>
            </a:r>
          </a:p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active, but not overdue.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489325"/>
            <a:ext cx="6858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Usable on small screens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883025"/>
            <a:ext cx="6858000" cy="577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Search, status filters, readable actions and an accessible dialog.</a:t>
            </a:r>
          </a:p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Demonstration records are explicitly fictional.</a:t>
            </a:r>
          </a:p>
        </p:txBody>
      </p:sp>
      <p:pic>
        <p:nvPicPr>
          <p:cNvPr id="13" name="Picture 12" descr="ui-fixed-mobile-3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901" y="1308100"/>
            <a:ext cx="1301797" cy="46101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42300" y="5994400"/>
            <a:ext cx="3302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C7B"/>
                </a:solidFill>
                <a:latin typeface="Arial"/>
              </a:defRPr>
            </a:pPr>
            <a:r>
              <a:t>Genuine School-profile mobile capture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Follow a request through the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1676400"/>
            <a:ext cx="2413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599" y="1892300"/>
            <a:ext cx="2082800" cy="339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364B"/>
                </a:solidFill>
                <a:latin typeface="Arial"/>
              </a:defRPr>
            </a:pPr>
            <a:r>
              <a:t>React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24100"/>
            <a:ext cx="2082800" cy="244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C7B"/>
                </a:solidFill>
                <a:latin typeface="Arial"/>
              </a:defRPr>
            </a:pPr>
            <a:r>
              <a:t>Relative /api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9300" y="2006600"/>
            <a:ext cx="330200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07E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1400" y="1676400"/>
            <a:ext cx="2413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9199" y="1892300"/>
            <a:ext cx="2082800" cy="339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364B"/>
                </a:solidFill>
                <a:latin typeface="Arial"/>
              </a:defRPr>
            </a:pPr>
            <a:r>
              <a:t>Nginx / 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9199" y="2324100"/>
            <a:ext cx="2082800" cy="244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C7B"/>
                </a:solidFill>
                <a:latin typeface="Arial"/>
              </a:defRPr>
            </a:pPr>
            <a:r>
              <a:t>/ and /api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7900" y="2006600"/>
            <a:ext cx="330200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07E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0000" y="1676400"/>
            <a:ext cx="2413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7800" y="1892300"/>
            <a:ext cx="2082800" cy="339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364B"/>
                </a:solidFill>
                <a:latin typeface="Arial"/>
              </a:defRPr>
            </a:pPr>
            <a:r>
              <a:t>FastAPI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7800" y="2324100"/>
            <a:ext cx="2082800" cy="244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C7B"/>
                </a:solidFill>
                <a:latin typeface="Arial"/>
              </a:defRPr>
            </a:pPr>
            <a:r>
              <a:t>Validation + 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6500" y="2006600"/>
            <a:ext cx="330200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07E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18600" y="1676400"/>
            <a:ext cx="2413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400" y="1892300"/>
            <a:ext cx="2082800" cy="339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364B"/>
                </a:solidFill>
                <a:latin typeface="Arial"/>
              </a:defRPr>
            </a:pPr>
            <a:r>
              <a:t>PostgreSQL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2324100"/>
            <a:ext cx="2082800" cy="244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C7B"/>
                </a:solidFill>
                <a:latin typeface="Arial"/>
              </a:defRPr>
            </a:pPr>
            <a:r>
              <a:t>Alembic + loans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3365500"/>
            <a:ext cx="19050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364B"/>
                </a:solidFill>
                <a:latin typeface="Arial"/>
              </a:defRPr>
            </a:pPr>
            <a: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3390900"/>
            <a:ext cx="8255000" cy="323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64B"/>
                </a:solidFill>
                <a:latin typeface="Arial"/>
              </a:defRPr>
            </a:pPr>
            <a:r>
              <a:t>localhost:3000 → frontend → backend →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3975100"/>
            <a:ext cx="19050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364B"/>
                </a:solidFill>
                <a:latin typeface="Arial"/>
              </a:defRPr>
            </a:pPr>
            <a:r>
              <a:t>Kubernetes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4000500"/>
            <a:ext cx="8255000" cy="323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64B"/>
                </a:solidFill>
                <a:latin typeface="Arial"/>
              </a:defRPr>
            </a:pPr>
            <a:r>
              <a:t>localhost:8088 → Ingress → ClusterIP Services → Pods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" y="4787900"/>
            <a:ext cx="10566400" cy="1028700"/>
          </a:xfrm>
          <a:prstGeom prst="roundRect">
            <a:avLst>
              <a:gd name="adj" fmla="val 12000"/>
            </a:avLst>
          </a:prstGeom>
          <a:solidFill>
            <a:srgbClr val="E4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1400" y="4940300"/>
            <a:ext cx="50800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0"/>
                </a:solidFill>
                <a:latin typeface="Arial"/>
              </a:defRPr>
            </a:pPr>
            <a:r>
              <a:t>Prometheus → Grafana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5346700"/>
            <a:ext cx="99060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64B"/>
                </a:solidFill>
                <a:latin typeface="Arial"/>
              </a:defRPr>
            </a:pPr>
            <a:r>
              <a:t>/metrics on both API replicas; real HTTP counters and latency histograms.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03 · CORRECTNESS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35 isolated tests, plus real-stack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04 / 12</a:t>
            </a:r>
          </a:p>
        </p:txBody>
      </p:sp>
      <p:pic>
        <p:nvPicPr>
          <p:cNvPr id="7" name="Picture 6" descr="terminal-ci-tests-par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199" y="1346200"/>
            <a:ext cx="8191601" cy="4660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6121400"/>
            <a:ext cx="10414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26C7B"/>
                </a:solidFill>
                <a:latin typeface="Arial"/>
              </a:defRPr>
            </a:pPr>
            <a:r>
              <a:t>Actual completed CI pytest output; all 35 results are available across the two native captures.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04 · DOCKER AND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Three healthy services; two non-root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05 / 12</a:t>
            </a:r>
          </a:p>
        </p:txBody>
      </p:sp>
      <p:pic>
        <p:nvPicPr>
          <p:cNvPr id="7" name="Picture 6" descr="terminal-com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199" y="1346200"/>
            <a:ext cx="8191601" cy="4660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6121400"/>
            <a:ext cx="10414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26C7B"/>
                </a:solidFill>
                <a:latin typeface="Arial"/>
              </a:defRPr>
            </a:pPr>
            <a:r>
              <a:t>Live local containers and enforced read-only table inspection; original volumes preserved.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05 ·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A real change reached the running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06 / 12</a:t>
            </a:r>
          </a:p>
        </p:txBody>
      </p:sp>
      <p:pic>
        <p:nvPicPr>
          <p:cNvPr id="7" name="Picture 6" descr="terminal-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922" y="1346200"/>
            <a:ext cx="7812154" cy="4445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5918200"/>
            <a:ext cx="10414000" cy="244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26C7B"/>
                </a:solidFill>
                <a:latin typeface="Arial"/>
              </a:defRPr>
            </a:pPr>
            <a:r>
              <a:t>Visible change → green CI → exact c2f4acf local rollout. Current source/CI: 5cb1c80.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62103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007E80"/>
                </a:solidFill>
                <a:latin typeface="Arial"/>
              </a:defRPr>
            </a:pPr>
            <a:r>
              <a:rPr>
                <a:hlinkClick r:id="rId4"/>
              </a:rPr>
              <a:t>Open the actual seven-job green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06 · 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The scan gate found a problem, then verified the repair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1574800"/>
            <a:ext cx="4991100" cy="3175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1841500"/>
            <a:ext cx="4381500" cy="292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26C7B"/>
                </a:solidFill>
                <a:latin typeface="Arial"/>
              </a:defRPr>
            </a:pPr>
            <a: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200" y="2298700"/>
            <a:ext cx="4381500" cy="4984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7364B"/>
                </a:solidFill>
                <a:latin typeface="Arial"/>
              </a:defRPr>
            </a:pPr>
            <a:r>
              <a:t>Strict scan 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200" y="3060700"/>
            <a:ext cx="4292600" cy="673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64B"/>
                </a:solidFill>
                <a:latin typeface="Arial"/>
              </a:defRPr>
            </a:pPr>
            <a:r>
              <a:t>Debian runtime findings were</a:t>
            </a:r>
          </a:p>
          <a:p>
            <a:pPr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64B"/>
                </a:solidFill>
                <a:latin typeface="Arial"/>
              </a:defRPr>
            </a:pPr>
            <a:r>
              <a:t>preserved in the original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08700" y="1574800"/>
            <a:ext cx="5270500" cy="3175000"/>
          </a:xfrm>
          <a:prstGeom prst="roundRect">
            <a:avLst>
              <a:gd name="adj" fmla="val 12000"/>
            </a:avLst>
          </a:prstGeom>
          <a:solidFill>
            <a:srgbClr val="E4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100" y="1841500"/>
            <a:ext cx="4635500" cy="292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7E80"/>
                </a:solidFill>
                <a:latin typeface="Arial"/>
              </a:defRPr>
            </a:pPr>
            <a: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100" y="2298700"/>
            <a:ext cx="4635500" cy="4984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0"/>
                </a:solidFill>
                <a:latin typeface="Arial"/>
              </a:defRPr>
            </a:pPr>
            <a:r>
              <a:t>4 clean CI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8100" y="3048000"/>
            <a:ext cx="4635500" cy="1038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64B"/>
                </a:solidFill>
                <a:latin typeface="Arial"/>
              </a:defRPr>
            </a:pPr>
            <a:r>
              <a:t>Backend + frontend</a:t>
            </a:r>
          </a:p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64B"/>
                </a:solidFill>
                <a:latin typeface="Arial"/>
              </a:defRPr>
            </a:pPr>
            <a:r>
              <a:t>amd64 + arm64</a:t>
            </a:r>
          </a:p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64B"/>
                </a:solidFill>
                <a:latin typeface="Arial"/>
              </a:defRPr>
            </a:pPr>
            <a:r>
              <a:t>0 HIGH / CRITICAL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5181600"/>
            <a:ext cx="105664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64B"/>
                </a:solidFill>
                <a:latin typeface="Arial"/>
              </a:defRPr>
            </a:pPr>
            <a:r>
              <a:t>Gate: --severity HIGH,CRITICAL --ignore-unfixed=false --exit-code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5791200"/>
            <a:ext cx="10414000" cy="292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26C7B"/>
                </a:solidFill>
                <a:latin typeface="Arial"/>
              </a:defRPr>
            </a:pPr>
            <a:r>
              <a:t>A clean scan is evidence about that image at that time; it is not a security guarantee.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07 ·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Helm release 2 is running in the dedicated local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08 / 12</a:t>
            </a:r>
          </a:p>
        </p:txBody>
      </p:sp>
      <p:pic>
        <p:nvPicPr>
          <p:cNvPr id="7" name="Picture 6" descr="terminal-kuberne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199" y="1346200"/>
            <a:ext cx="8191601" cy="4660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6121400"/>
            <a:ext cx="10414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26C7B"/>
                </a:solidFill>
                <a:latin typeface="Arial"/>
              </a:defRPr>
            </a:pPr>
            <a:r>
              <a:t>Local context: labledger-capstone. UI/API Running; migration Job Completed as designed.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08 · HPA AND 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Resilience was exercised, not only configured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09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562100"/>
            <a:ext cx="10414000" cy="736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007E80"/>
                </a:solidFill>
                <a:latin typeface="Arial"/>
              </a:defRPr>
            </a:pPr>
            <a:r>
              <a:t>2 → 4 Ready →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387600"/>
            <a:ext cx="104140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26C7B"/>
                </a:solidFill>
                <a:latin typeface="Arial"/>
              </a:defRPr>
            </a:pPr>
            <a:r>
              <a:t>Observed API HPA response under controlled local CPU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800" y="3111500"/>
            <a:ext cx="4991100" cy="1765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3352800"/>
            <a:ext cx="4445000" cy="434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64B"/>
                </a:solidFill>
                <a:latin typeface="Arial"/>
              </a:defRPr>
            </a:pPr>
            <a:r>
              <a:t>2,338 reads · 0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949700"/>
            <a:ext cx="444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C7B"/>
                </a:solidFill>
                <a:latin typeface="Arial"/>
              </a:defRPr>
            </a:pPr>
            <a:r>
              <a:t>Persistent HTTP connections; original</a:t>
            </a:r>
          </a:p>
          <a:p>
            <a:pPr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C7B"/>
                </a:solidFill>
                <a:latin typeface="Arial"/>
              </a:defRPr>
            </a:pPr>
            <a:r>
              <a:t>request log retained.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8700" y="3111500"/>
            <a:ext cx="5270500" cy="1765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352800"/>
            <a:ext cx="4699000" cy="434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64B"/>
                </a:solidFill>
                <a:latin typeface="Arial"/>
              </a:defRPr>
            </a:pPr>
            <a:r>
              <a:t>200 → 503 → 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3949700"/>
            <a:ext cx="4699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C7B"/>
                </a:solidFill>
                <a:latin typeface="Arial"/>
              </a:defRPr>
            </a:pPr>
            <a:r>
              <a:t>Service selector fault, diagnosis and real</a:t>
            </a:r>
          </a:p>
          <a:p>
            <a:pPr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26C7B"/>
                </a:solidFill>
                <a:latin typeface="Arial"/>
              </a:defRPr>
            </a:pPr>
            <a:r>
              <a:t>recovery.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5499100"/>
            <a:ext cx="10414000" cy="292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26C7B"/>
                </a:solidFill>
                <a:latin typeface="Arial"/>
              </a:defRPr>
            </a:pPr>
            <a:r>
              <a:t>Original logs: evidence/local-cluster/README.md. No new failure was injected for these slides.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09 ·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Actual application scraping is healthy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10 / 12</a:t>
            </a:r>
          </a:p>
        </p:txBody>
      </p:sp>
      <p:pic>
        <p:nvPicPr>
          <p:cNvPr id="7" name="Picture 6" descr="prometheus-applicable-targets-summary-upda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287" y="1320800"/>
            <a:ext cx="7349424" cy="4254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5702300"/>
            <a:ext cx="104140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26C7B"/>
                </a:solidFill>
                <a:latin typeface="Arial"/>
              </a:defRPr>
            </a:pPr>
            <a:r>
              <a:t>14 applicable targets UP; original loopback-endpoint failures and local fix retained.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6057900"/>
            <a:ext cx="104140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E80"/>
                </a:solidFill>
                <a:latin typeface="Arial"/>
              </a:defRPr>
            </a:pPr>
            <a:r>
              <a:t>Grafana: real API data verified; populated browser-panel capture still pending login.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10 · HONEST CLOUD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AWS is prepared, but has not been deployed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485900"/>
            <a:ext cx="10414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Observed: a real read-only account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1879599"/>
            <a:ext cx="104140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62 creates · 0 updates · 0 deletes. No apply, access grant or cloud teardown.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378075"/>
            <a:ext cx="10414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Prepared: reproducible infrastructure and bootstrap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771775"/>
            <a:ext cx="104140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VPC + EKS + one worker + NLB; restricted API; Helm and monitoring; project-only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270250"/>
            <a:ext cx="10414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Remaining: approval and genuine cloud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663950"/>
            <a:ext cx="104140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Exact access/visibility decisions, actual apply, Console/runtime verification and complete teardown.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5854700"/>
            <a:ext cx="10566400" cy="292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7E80"/>
                </a:solidFill>
                <a:latin typeface="Arial"/>
              </a:defRPr>
            </a:pPr>
            <a:r>
              <a:t>Pricing scenario: about US$2.43 before tax. Conditional ceiling: US$10 / maximum 2 hours.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3302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07E80"/>
                </a:solidFill>
                <a:latin typeface="Arial"/>
              </a:defRPr>
            </a:pPr>
            <a:r>
              <a:t>11 · HANDOFF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09600"/>
            <a:ext cx="10414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02D42"/>
                </a:solidFill>
                <a:latin typeface="Arial"/>
              </a:defRPr>
            </a:pPr>
            <a:r>
              <a:t>Present the verified work, then review the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5024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Jaivardhan D Rao · 10117 · Group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3400" y="6502400"/>
            <a:ext cx="88900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C7B"/>
                </a:solidFill>
                <a:latin typeface="Arial"/>
              </a:defRPr>
            </a:pPr>
            <a: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473200"/>
            <a:ext cx="10414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Ready to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1866899"/>
            <a:ext cx="104140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Original app, tests, containers, green CI, local Kubernetes, native evidence and these editable slides.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365375"/>
            <a:ext cx="10414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Still required for the complete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759075"/>
            <a:ext cx="10414000" cy="577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Live browser/Swagger CRUD, populated Grafana and package-page captures; genuine AWS evidence after</a:t>
            </a:r>
          </a:p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approval.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527425"/>
            <a:ext cx="10414000" cy="371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64B"/>
                </a:solidFill>
                <a:latin typeface="Arial"/>
              </a:defRPr>
            </a:pPr>
            <a:r>
              <a:t>Final submission stays with the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921125"/>
            <a:ext cx="10414000" cy="307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C7B"/>
                </a:solidFill>
                <a:latin typeface="Arial"/>
              </a:defRPr>
            </a:pPr>
            <a:r>
              <a:t>Form filled for Group A / roll 10117. Review the public repository and evidence before pressing Submit.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096000"/>
            <a:ext cx="10414000" cy="212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007E80"/>
                </a:solidFill>
                <a:latin typeface="Arial"/>
              </a:defRPr>
            </a:pPr>
            <a:r>
              <a:rPr>
                <a:hlinkClick r:id="rId3"/>
              </a:rPr>
              <a:t>Public repository and complete evidence index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LabLedger — DevOps Capstone</dc:title>
  <dc:subject/>
  <dc:creator>Jaivardhan D Rao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