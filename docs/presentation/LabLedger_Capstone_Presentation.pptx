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9"/>
    <p:sldId id="258" r:id="rId10"/>
    <p:sldId id="259" r:id="rId11"/>
    <p:sldId id="260" r:id="rId12"/>
    <p:sldId id="261" r:id="rId13"/>
    <p:sldId id="262" r:id="rId14"/>
    <p:sldId id="263" r:id="rId15"/>
    <p:sldId id="264" r:id="rId16"/>
    <p:sldId id="265" r:id="rId17"/>
    <p:sldId id="266" r:id="rId18"/>
    <p:sldId id="267" r:id="rId19"/>
  </p:sldIdLst>
  <p:sldSz cx="12191999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notesMaster" Target="notesMasters/notesMaster1.xml"/><Relationship Id="rId9" Type="http://schemas.openxmlformats.org/officeDocument/2006/relationships/slide" Target="slides/slide2.xml"/><Relationship Id="rId10" Type="http://schemas.openxmlformats.org/officeDocument/2006/relationships/slide" Target="slides/slide3.xml"/><Relationship Id="rId11" Type="http://schemas.openxmlformats.org/officeDocument/2006/relationships/slide" Target="slides/slide4.xml"/><Relationship Id="rId12" Type="http://schemas.openxmlformats.org/officeDocument/2006/relationships/slide" Target="slides/slide5.xml"/><Relationship Id="rId13" Type="http://schemas.openxmlformats.org/officeDocument/2006/relationships/slide" Target="slides/slide6.xml"/><Relationship Id="rId14" Type="http://schemas.openxmlformats.org/officeDocument/2006/relationships/slide" Target="slides/slide7.xml"/><Relationship Id="rId15" Type="http://schemas.openxmlformats.org/officeDocument/2006/relationships/slide" Target="slides/slide8.xml"/><Relationship Id="rId16" Type="http://schemas.openxmlformats.org/officeDocument/2006/relationships/slide" Target="slides/slide9.xml"/><Relationship Id="rId17" Type="http://schemas.openxmlformats.org/officeDocument/2006/relationships/slide" Target="slides/slide10.xml"/><Relationship Id="rId18" Type="http://schemas.openxmlformats.org/officeDocument/2006/relationships/slide" Target="slides/slide11.xml"/><Relationship Id="rId19" Type="http://schemas.openxmlformats.org/officeDocument/2006/relationships/slide" Target="slides/slide12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Introduce the original campus equipment-loan domain. Identify yourself as Jaivardhan D Rao, roll 10117, Group A.</a:t>
            </a:r>
          </a:p>
          <a:p>
            <a:r>
              <a:t>The screenshot is a genuine earlier School-profile capture of local Kubernetes, not AWS. Every displayed loan is fictional.</a:t>
            </a:r>
          </a:p>
          <a:p>
            <a:r>
              <a:t>The application, CI, local Kubernetes and temporary personal AWS EKS ran successfully. Actual cleanup was verified separately before this final deck was built.</a:t>
            </a:r>
          </a:p>
          <a:p>
            <a:r>
              <a:t>The title image remains the original local UI capture, not an AWS browser image. New Terminal/API evidence documents the cloud run; private browser captures are not embedded while publication approval is pending.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A borrowing request moves through requested, collected and returned. Only a collected loan past its due date is overdue.</a:t>
            </a:r>
          </a:p>
          <a:p>
            <a:r>
              <a:t>A date has no UTC offset; the application evaluates today in Asia/Kolkata. Returning an item updates the statistics.</a:t>
            </a:r>
          </a:p>
          <a:p>
            <a:r>
              <a:t>Explain the responsive table, keyboard access, filters and create/edit dialogs. The mobile capture is genuine and predates the later footer-only delivery change.</a:t>
            </a:r>
          </a:p>
          <a:p>
            <a:r>
              <a:t>For the live demo open localhost:8088 only in the School Chrome profile; create and remove a temporary fictional loan only when that write is authorized.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browser sends relative /api requests. Compose Nginx resolves the backend service; Kubernetes Ingress routes /api directly to the API ClusterIP Service.</a:t>
            </a:r>
          </a:p>
          <a:p>
            <a:r>
              <a:t>The frontend serves static React assets. The backend validates inputs and persists loans through SQLAlchemy in PostgreSQL, with Alembic owning schema migration.</a:t>
            </a:r>
          </a:p>
          <a:p>
            <a:r>
              <a:t>Prometheus scrapes both backend replicas and Grafana queries Prometheus. Metrics Server is a separate HPA dependency.</a:t>
            </a:r>
          </a:p>
          <a:p>
            <a:r>
              <a:t>The temporary cloud path was public HTTP NLB to NodePort30080, NGINX Ingress, ClusterIP Services and PostgreSQL. Monitoring remained loopback-only. The endpoint was retired after evidence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image is a native Terminal screenshot of the actual completed CI pytest output, part 2 of 2; it is explicitly not a fresh rerun. Both captures together show every test-result line.</a:t>
            </a:r>
          </a:p>
          <a:p>
            <a:r>
              <a:t>The full evidence/pytest.txt contains all 35 passing API/migration tests. Tests isolate their SQLite database and mock dependencies; they do not use the running PostgreSQL data.</a:t>
            </a:r>
          </a:p>
          <a:p>
            <a:r>
              <a:t>Mention invalid-input rejection, PUT replacement semantics, stats after return/delete, readiness failure and bounded metric route labels.</a:t>
            </a:r>
          </a:p>
          <a:p>
            <a:r>
              <a:t>Separate real HTTP checks exercised the PostgreSQL/Compose path. The latest successful GitHub pipeline also ran the backend tests and nine frontend tests.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an original actual local Terminal capture. The Compose service is named database, while the Kubernetes StatefulSet is named labledger-postgres. The later cloud database/table and container UID results are separate.</a:t>
            </a:r>
          </a:p>
          <a:p>
            <a:r>
              <a:t>The API runs as UID10001 and frontend as UID101. The frontend is a Node-build to unprivileged-Nginx multi-stage image.</a:t>
            </a:r>
          </a:p>
          <a:p>
            <a:r>
              <a:t>The read-only PostgreSQL session lists alembic_version and loans. No database record or schema was changed for this capture.</a:t>
            </a:r>
          </a:p>
          <a:p>
            <a:r>
              <a:t>A prior forced backend IP-change check verified proxy DNS recovery and data preservation; see the original raw evidence. No images were rebuilt during this presentation capture.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Show actual completed run 38934060961, seven successful jobs for 06909ce. It tested the controller fix and published both multiarch SHA image tags.</a:t>
            </a:r>
          </a:p>
          <a:p>
            <a:r>
              <a:t>Anonymous exact-tag manifest fetches succeeded. A deliberate personal-account Helm promotion then rolled the cloud application to exactly06909ce, release2, with Ready UI/API Pods.</a:t>
            </a:r>
          </a:p>
          <a:p>
            <a:r>
              <a:t>The screenshot combines explicitly completed CI/promotion records with actual current Deployment image queries. A later documentation-only commit is not a newly tested image.</a:t>
            </a:r>
          </a:p>
          <a:p>
            <a:r>
              <a:t>The earlier visible footer change and c2f4acf local rollout remain independently documented. CI publishes images; AWS promotion is an explicit guarded step, not automatic cloud access.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Explain that the initial Debian-based backend image failed strict HIGH/CRITICAL scanning. Its original failed report was retained.</a:t>
            </a:r>
          </a:p>
          <a:p>
            <a:r>
              <a:t>Replacing the runtime with Alpine and rebuilding produced clean backend/frontend reports. Both amd64 and arm64 images must pass before canonical multiarch publication.</a:t>
            </a:r>
          </a:p>
          <a:p>
            <a:r>
              <a:t>Trivy uses HIGH,CRITICAL with ignore-unfixed=false and exit-code1; no broad ignore gate was added. Earlier downloaded reports have zero HIGH/CRITICAL findings. Fresh06909ce metadata verifies all four strict scan jobs succeeded; their raw report ZIPs were not downloaded.</a:t>
            </a:r>
          </a:p>
          <a:p>
            <a:r>
              <a:t>A clean container scan is a bounded observation, not proof of total application security. Separate exact-credential and secret scans checked the public tree/history; credentials and local state stay outside Git.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screenshot displays the explicitly saved actual cloud API snapshot, with its original capture time and source file. It is not represented as a fresh cluster query after teardown. The existing local coursework cluster was preserved.</a:t>
            </a:r>
          </a:p>
          <a:p>
            <a:r>
              <a:t>Both UI and API Deployments had two Ready replicas after HPA cooldown. Their Services are ClusterIP. PostgreSQL used an encrypted 2GiB gp3 PVC; the migration Job completed successfully.</a:t>
            </a:r>
          </a:p>
          <a:p>
            <a:r>
              <a:t>A Completed migration Job is expected and does not mean application Pods are unhealthy. Probes gate application readiness on migration/database state.</a:t>
            </a:r>
          </a:p>
          <a:p>
            <a:r>
              <a:t>Actual public NLB routing and cloud CRUD succeeded. This is genuine cloud evidence captured before approved teardown, not a claim that the temporary endpoint remains online.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actual cloud load/drill records. HPA rose from 2 to 4 Ready API Pods and returned to 2; the worker count remained one.</a:t>
            </a:r>
          </a:p>
          <a:p>
            <a:r>
              <a:t>The 90-second burst recorded 7,431 HTTP200 and 12 failures. Failure categories were not retained, so their cause is not established. A separate lower-rate recovery check passed 40/40; this is not a claim that the burst workload was repaired.</a:t>
            </a:r>
          </a:p>
          <a:p>
            <a:r>
              <a:t>A deliberately broken cloud Service selector produced502/no endpoints; exact restoration restored200. The initial EndpointSlice-null instrumentation error and its successful finally-restoration are retained separately.</a:t>
            </a:r>
          </a:p>
          <a:p>
            <a:r>
              <a:t>Explain readiness vs liveness, Service selectors vs Pod labels, and why Metrics Server and CPU requests are required for HPA. HPA scales Pods, not worker nodes.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This is a genuine native Terminal display of explicitly saved cloud checks, not a browser dashboard. Prometheus returned 16/16 UP before scaling; HPA temporarily increased the API target count.</a:t>
            </a:r>
          </a:p>
          <a:p>
            <a:r>
              <a:t>Grafana's authenticated API returned the actual six-panel dashboard, six traffic series and positive samples. Credentials remained in RAM. A populated browser panel is still a separate capture requirement.</a:t>
            </a:r>
          </a:p>
          <a:p>
            <a:r>
              <a:t>The initial local loopback-only control-plane failures and local repair remain historical evidence. EKS uses its separately documented managed-control-plane scrape profile.</a:t>
            </a:r>
          </a:p>
          <a:p>
            <a:r>
              <a:t>Private Console/app/Prometheus browser images were captured separately and remain unpublished pending their specific publication approval. No browser pixels are embedded here.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The actual frozen personal-account plan created 62 resources, zero changes/deletions. Mumbai EKS 1.34 and its managed t3.large group became ACTIVE. The VPC had two public/two private subnets, NAT and a Terraform-owned HTTP NLB.</a:t>
            </a:r>
          </a:p>
          <a:p>
            <a:r>
              <a:t>The screenshot is an original native Terminal capture displaying actual completed destroy output and explicitly recorded post-deletion API checks. The separate apply capture preserves the actual 62-create output and ACTIVE EKS/node-group responses. Separate Console captures remain private until publication approval.</a:t>
            </a:r>
          </a:p>
          <a:p>
            <a:r>
              <a:t>After actual runtime evidence, the disposable PostgreSQL PVC/EBS was removed while CSI/node permissions remained available. A separately reviewed 62-delete Terraform plan removed the new infrastructure; post-cleanup API/state checks are linked in the evidence gallery.</a:t>
            </a:r>
          </a:p>
          <a:p>
            <a:r>
              <a:t>The final build requires a successful actual cleanup-verification file. The approved ceiling was US$10 / maximum two hours. The US$2.43 before-tax scenario is a planning estimate, not a measured final bill or automated billing cap.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Use the PDF or editable slides as a speaking guide. Play the separate native Terminal-only recording as supporting evidence, not a claim that the complete app/browser demo was recorded.</a:t>
            </a:r>
          </a:p>
          <a:p>
            <a:r>
              <a:t>For a full live/remote walkthrough, open local UI/Swagger/Prometheus/Grafana in the School Chrome profile, show the genuine green run and package pages, and explain the retained change-to-rollout sequence.</a:t>
            </a:r>
          </a:p>
          <a:p>
            <a:r>
              <a:t>Actual cloud deployment, delivery update, metrics, troubleshooting and project-only cleanup are complete. The temporary AWS endpoint is retired; local demonstration instructions remain reproducible.</a:t>
            </a:r>
          </a:p>
          <a:p>
            <a:r>
              <a:t>The student reported manually submitting the form. No automated submission, instructor acceptance or submission receipt is claimed, and no further form actions are performed.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.xml"/><Relationship Id="rId3" Type="http://schemas.openxmlformats.org/officeDocument/2006/relationships/image" Target="../media/image1.jpg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Relationship Id="rId3" Type="http://schemas.openxmlformats.org/officeDocument/2006/relationships/image" Target="../media/image2.jpg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Relationship Id="rId3" Type="http://schemas.openxmlformats.org/officeDocument/2006/relationships/image" Target="../media/image3.png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Relationship Id="rId3" Type="http://schemas.openxmlformats.org/officeDocument/2006/relationships/image" Target="../media/image4.png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6.xml"/><Relationship Id="rId3" Type="http://schemas.openxmlformats.org/officeDocument/2006/relationships/image" Target="../media/image5.png"/><Relationship Id="rId4" Type="http://schemas.openxmlformats.org/officeDocument/2006/relationships/hyperlink" Target="https://github.com/jaivardhandrao/labledger-devops-capstone/actions/runs/38934060961" TargetMode="Externa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Relationship Id="rId3" Type="http://schemas.openxmlformats.org/officeDocument/2006/relationships/image" Target="../media/image6.png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Relationship Id="rId3" Type="http://schemas.openxmlformats.org/officeDocument/2006/relationships/image" Target="../media/image7.png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Relationship Id="rId3" Type="http://schemas.openxmlformats.org/officeDocument/2006/relationships/hyperlink" Target="https://github.com/jaivardhandrao/labledger-devops-capstone" TargetMode="Externa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102D4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A7E2DD"/>
                </a:solidFill>
                <a:latin typeface="Arial"/>
              </a:defRPr>
            </a:pPr>
            <a:r>
              <a:t>DEVOPS FINAL CAPSTONE · LOCAL AND AWS EVIDENCE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FFFFFF"/>
                </a:solidFill>
                <a:latin typeface="Arial"/>
              </a:defRPr>
            </a:pPr>
            <a:r>
              <a:t>LabLedger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AE3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CBDAE3"/>
                </a:solidFill>
                <a:latin typeface="Arial"/>
              </a:defRPr>
            </a:pPr>
            <a:r>
              <a:t>01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625600"/>
            <a:ext cx="4038600" cy="1054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Shared equipment.</a:t>
            </a:r>
          </a:p>
          <a:p>
            <a:pPr>
              <a:lnSpc>
                <a:spcPts val="4000"/>
              </a:lnSpc>
              <a:spcBef>
                <a:spcPts val="0"/>
              </a:spcBef>
              <a:spcAft>
                <a:spcPts val="0"/>
              </a:spcAft>
              <a:defRPr sz="3200" b="1">
                <a:solidFill>
                  <a:srgbClr val="FFFFFF"/>
                </a:solidFill>
                <a:latin typeface="Arial"/>
              </a:defRPr>
            </a:pPr>
            <a:r>
              <a:t>Clear returns.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3200400"/>
            <a:ext cx="3873499" cy="641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BDAE3"/>
                </a:solidFill>
                <a:latin typeface="Arial"/>
              </a:defRPr>
            </a:pPr>
            <a:r>
              <a:t>React · FastAPI · PostgreSQL</a:t>
            </a:r>
          </a:p>
          <a:p>
            <a:pPr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defRPr sz="1900" b="0">
                <a:solidFill>
                  <a:srgbClr val="CBDAE3"/>
                </a:solidFill>
                <a:latin typeface="Arial"/>
              </a:defRPr>
            </a:pPr>
            <a:r>
              <a:t>Docker · CI · Helm · Monitoring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4508500"/>
            <a:ext cx="3721100" cy="1092200"/>
          </a:xfrm>
          <a:prstGeom prst="roundRect">
            <a:avLst>
              <a:gd name="adj" fmla="val 12000"/>
            </a:avLst>
          </a:prstGeom>
          <a:solidFill>
            <a:srgbClr val="1E455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16000" y="4699000"/>
            <a:ext cx="3302000" cy="244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1">
                <a:solidFill>
                  <a:srgbClr val="A7E2DD"/>
                </a:solidFill>
                <a:latin typeface="Arial"/>
              </a:defRPr>
            </a:pPr>
            <a:r>
              <a:t>VERIFIED ON EKS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16000" y="5054600"/>
            <a:ext cx="3302000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0">
                <a:solidFill>
                  <a:srgbClr val="FFFFFF"/>
                </a:solidFill>
                <a:latin typeface="Arial"/>
              </a:defRPr>
            </a:pPr>
            <a:r>
              <a:t>Temporary cloud demo cleaned up.</a:t>
            </a:r>
          </a:p>
        </p:txBody>
      </p:sp>
      <p:pic>
        <p:nvPicPr>
          <p:cNvPr id="12" name="Picture 11" descr="ui-kubernetes-desktop-8088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4953000" y="1712169"/>
            <a:ext cx="6540500" cy="4030560"/>
          </a:xfrm>
          <a:prstGeom prst="rect">
            <a:avLst/>
          </a:prstGeom>
        </p:spPr>
      </p:pic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Arial"/>
              </a:defRPr>
            </a:pPr>
            <a:r>
              <a:t>01 · APPLICATION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2D42"/>
                </a:solidFill>
                <a:latin typeface="Arial"/>
              </a:defRPr>
            </a:pPr>
            <a:r>
              <a:t>One clear equipment-loan lifecycle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02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435100"/>
            <a:ext cx="6858000" cy="371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364B"/>
                </a:solidFill>
                <a:latin typeface="Arial"/>
              </a:defRPr>
            </a:pPr>
            <a:r>
              <a:t>Request → collect → return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828800"/>
            <a:ext cx="6858000" cy="30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C7B"/>
                </a:solidFill>
                <a:latin typeface="Arial"/>
              </a:defRPr>
            </a:pPr>
            <a:r>
              <a:t>A lab desk records the borrower, equipment and return date.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2327275"/>
            <a:ext cx="6858000" cy="371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364B"/>
                </a:solidFill>
                <a:latin typeface="Arial"/>
              </a:defRPr>
            </a:pPr>
            <a:r>
              <a:t>Overdue has a precise meaning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720975"/>
            <a:ext cx="6858000" cy="577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C7B"/>
                </a:solidFill>
                <a:latin typeface="Arial"/>
              </a:defRPr>
            </a:pPr>
            <a:r>
              <a:t>Collected + due date before today in Asia/Kolkata. Requested loans are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C7B"/>
                </a:solidFill>
                <a:latin typeface="Arial"/>
              </a:defRPr>
            </a:pPr>
            <a:r>
              <a:t>active, but not overdue.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3489325"/>
            <a:ext cx="6858000" cy="371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364B"/>
                </a:solidFill>
                <a:latin typeface="Arial"/>
              </a:defRPr>
            </a:pPr>
            <a:r>
              <a:t>Usable on small screens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3883025"/>
            <a:ext cx="6858000" cy="577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C7B"/>
                </a:solidFill>
                <a:latin typeface="Arial"/>
              </a:defRPr>
            </a:pPr>
            <a:r>
              <a:t>Search, status filters, readable actions and an accessible dialog.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C7B"/>
                </a:solidFill>
                <a:latin typeface="Arial"/>
              </a:defRPr>
            </a:pPr>
            <a:r>
              <a:t>Demonstration records are explicitly fictional.</a:t>
            </a:r>
          </a:p>
        </p:txBody>
      </p:sp>
      <p:pic>
        <p:nvPicPr>
          <p:cNvPr id="13" name="Picture 12" descr="ui-fixed-mobile-390.jp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9178901" y="1308100"/>
            <a:ext cx="1301797" cy="4610100"/>
          </a:xfrm>
          <a:prstGeom prst="rect">
            <a:avLst/>
          </a:prstGeom>
        </p:spPr>
      </p:pic>
      <p:sp>
        <p:nvSpPr>
          <p:cNvPr id="14" name="TextBox 13"/>
          <p:cNvSpPr txBox="1"/>
          <p:nvPr/>
        </p:nvSpPr>
        <p:spPr>
          <a:xfrm>
            <a:off x="8242300" y="5994400"/>
            <a:ext cx="3302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526C7B"/>
                </a:solidFill>
                <a:latin typeface="Arial"/>
              </a:defRPr>
            </a:pPr>
            <a:r>
              <a:t>Genuine School-profile mobile capture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Arial"/>
              </a:defRPr>
            </a:pPr>
            <a:r>
              <a:t>02 · 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2D42"/>
                </a:solidFill>
                <a:latin typeface="Arial"/>
              </a:defRPr>
            </a:pPr>
            <a:r>
              <a:t>Follow a request through the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03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1676400"/>
            <a:ext cx="2413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990599" y="1892300"/>
            <a:ext cx="2082800" cy="339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64B"/>
                </a:solidFill>
                <a:latin typeface="Arial"/>
              </a:defRPr>
            </a:pPr>
            <a:r>
              <a:t>React UI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90599" y="2324100"/>
            <a:ext cx="2082800" cy="244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C7B"/>
                </a:solidFill>
                <a:latin typeface="Arial"/>
              </a:defRPr>
            </a:pPr>
            <a:r>
              <a:t>Relative /api calls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3289300" y="2006600"/>
            <a:ext cx="3302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7E8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3581400" y="1676400"/>
            <a:ext cx="2413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3759199" y="1892300"/>
            <a:ext cx="2082800" cy="339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64B"/>
                </a:solidFill>
                <a:latin typeface="Arial"/>
              </a:defRPr>
            </a:pPr>
            <a:r>
              <a:t>Nginx / Ingress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759199" y="2324100"/>
            <a:ext cx="2082800" cy="244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C7B"/>
                </a:solidFill>
                <a:latin typeface="Arial"/>
              </a:defRPr>
            </a:pPr>
            <a:r>
              <a:t>/ and /api routes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057900" y="2006600"/>
            <a:ext cx="3302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7E8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5" name="Rounded Rectangle 14"/>
          <p:cNvSpPr/>
          <p:nvPr/>
        </p:nvSpPr>
        <p:spPr>
          <a:xfrm>
            <a:off x="6350000" y="1676400"/>
            <a:ext cx="2413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527800" y="1892300"/>
            <a:ext cx="2082800" cy="339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64B"/>
                </a:solidFill>
                <a:latin typeface="Arial"/>
              </a:defRPr>
            </a:pPr>
            <a:r>
              <a:t>FastAPI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27800" y="2324100"/>
            <a:ext cx="2082800" cy="244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C7B"/>
                </a:solidFill>
                <a:latin typeface="Arial"/>
              </a:defRPr>
            </a:pPr>
            <a:r>
              <a:t>Validation + metrics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826500" y="2006600"/>
            <a:ext cx="330200" cy="419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000"/>
              </a:lnSpc>
              <a:spcBef>
                <a:spcPts val="0"/>
              </a:spcBef>
              <a:spcAft>
                <a:spcPts val="0"/>
              </a:spcAft>
              <a:defRPr sz="2400" b="0">
                <a:solidFill>
                  <a:srgbClr val="007E80"/>
                </a:solidFill>
                <a:latin typeface="Arial"/>
              </a:defRPr>
            </a:pPr>
            <a:r>
              <a:t>→</a:t>
            </a:r>
          </a:p>
        </p:txBody>
      </p:sp>
      <p:sp>
        <p:nvSpPr>
          <p:cNvPr id="19" name="Rounded Rectangle 18"/>
          <p:cNvSpPr/>
          <p:nvPr/>
        </p:nvSpPr>
        <p:spPr>
          <a:xfrm>
            <a:off x="9118600" y="1676400"/>
            <a:ext cx="2413000" cy="1143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0" name="TextBox 19"/>
          <p:cNvSpPr txBox="1"/>
          <p:nvPr/>
        </p:nvSpPr>
        <p:spPr>
          <a:xfrm>
            <a:off x="9296400" y="1892300"/>
            <a:ext cx="2082800" cy="339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375"/>
              </a:lnSpc>
              <a:spcBef>
                <a:spcPts val="0"/>
              </a:spcBef>
              <a:spcAft>
                <a:spcPts val="0"/>
              </a:spcAft>
              <a:defRPr sz="1900" b="1">
                <a:solidFill>
                  <a:srgbClr val="17364B"/>
                </a:solidFill>
                <a:latin typeface="Arial"/>
              </a:defRPr>
            </a:pPr>
            <a:r>
              <a:t>PostgreSQL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9296400" y="2324100"/>
            <a:ext cx="2082800" cy="244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C7B"/>
                </a:solidFill>
                <a:latin typeface="Arial"/>
              </a:defRPr>
            </a:pPr>
            <a:r>
              <a:t>Alembic + loans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812800" y="3365500"/>
            <a:ext cx="1905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64B"/>
                </a:solidFill>
                <a:latin typeface="Arial"/>
              </a:defRPr>
            </a:pPr>
            <a:r>
              <a:t>Compose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971800" y="3390900"/>
            <a:ext cx="82550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64B"/>
                </a:solidFill>
                <a:latin typeface="Arial"/>
              </a:defRPr>
            </a:pPr>
            <a:r>
              <a:t>localhost:3000 → frontend → backend → database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12800" y="3975100"/>
            <a:ext cx="1905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17364B"/>
                </a:solidFill>
                <a:latin typeface="Arial"/>
              </a:defRPr>
            </a:pPr>
            <a:r>
              <a:t>Kubernetes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2971800" y="4000500"/>
            <a:ext cx="8255000" cy="323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17364B"/>
                </a:solidFill>
                <a:latin typeface="Arial"/>
              </a:defRPr>
            </a:pPr>
            <a:r>
              <a:t>localhost:8088 → Ingress → ClusterIP Services → Pods</a:t>
            </a:r>
          </a:p>
        </p:txBody>
      </p:sp>
      <p:sp>
        <p:nvSpPr>
          <p:cNvPr id="26" name="Rounded Rectangle 25"/>
          <p:cNvSpPr/>
          <p:nvPr/>
        </p:nvSpPr>
        <p:spPr>
          <a:xfrm>
            <a:off x="812800" y="4787900"/>
            <a:ext cx="10566400" cy="1028700"/>
          </a:xfrm>
          <a:prstGeom prst="roundRect">
            <a:avLst>
              <a:gd name="adj" fmla="val 12000"/>
            </a:avLst>
          </a:prstGeom>
          <a:solidFill>
            <a:srgbClr val="E4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7" name="TextBox 26"/>
          <p:cNvSpPr txBox="1"/>
          <p:nvPr/>
        </p:nvSpPr>
        <p:spPr>
          <a:xfrm>
            <a:off x="1041400" y="4940300"/>
            <a:ext cx="5080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1">
                <a:solidFill>
                  <a:srgbClr val="007E80"/>
                </a:solidFill>
                <a:latin typeface="Arial"/>
              </a:defRPr>
            </a:pPr>
            <a:r>
              <a:t>Prometheus → Grafana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1041400" y="5346700"/>
            <a:ext cx="9906000" cy="30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17364B"/>
                </a:solidFill>
                <a:latin typeface="Arial"/>
              </a:defRPr>
            </a:pPr>
            <a:r>
              <a:t>/metrics on both API replicas; real HTTP counters and latency histograms.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Arial"/>
              </a:defRPr>
            </a:pPr>
            <a:r>
              <a:t>03 · CORRECTNESS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2D42"/>
                </a:solidFill>
                <a:latin typeface="Arial"/>
              </a:defRPr>
            </a:pPr>
            <a:r>
              <a:t>35 isolated tests, plus real-stack checks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04 / 12</a:t>
            </a:r>
          </a:p>
        </p:txBody>
      </p:sp>
      <p:pic>
        <p:nvPicPr>
          <p:cNvPr id="7" name="Picture 6" descr="terminal-ci-tests-part2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199" y="1346200"/>
            <a:ext cx="8191601" cy="4660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2800" y="6121400"/>
            <a:ext cx="1041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C7B"/>
                </a:solidFill>
                <a:latin typeface="Arial"/>
              </a:defRPr>
            </a:pPr>
            <a:r>
              <a:t>Actual completed CI pytest output; all 35 results are available across the two native captures.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Arial"/>
              </a:defRPr>
            </a:pPr>
            <a:r>
              <a:t>04 · DOCKER AND PERSISTENCE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2D42"/>
                </a:solidFill>
                <a:latin typeface="Arial"/>
              </a:defRPr>
            </a:pPr>
            <a:r>
              <a:t>Three healthy services; two non-root images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05 / 12</a:t>
            </a:r>
          </a:p>
        </p:txBody>
      </p:sp>
      <p:pic>
        <p:nvPicPr>
          <p:cNvPr id="7" name="Picture 6" descr="terminal-compose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000199" y="1346200"/>
            <a:ext cx="8191601" cy="4660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2800" y="6121400"/>
            <a:ext cx="1041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C7B"/>
                </a:solidFill>
                <a:latin typeface="Arial"/>
              </a:defRPr>
            </a:pPr>
            <a:r>
              <a:t>Live local containers and enforced read-only table inspection; original volumes preserved.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Arial"/>
              </a:defRPr>
            </a:pPr>
            <a:r>
              <a:t>05 · DELIVERY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2D42"/>
                </a:solidFill>
                <a:latin typeface="Arial"/>
              </a:defRPr>
            </a:pPr>
            <a:r>
              <a:t>A real change reached the running application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06 / 12</a:t>
            </a:r>
          </a:p>
        </p:txBody>
      </p:sp>
      <p:pic>
        <p:nvPicPr>
          <p:cNvPr id="7" name="Picture 6" descr="cloud-delivery-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583016" y="1346199"/>
            <a:ext cx="7025967" cy="44450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2800" y="5918200"/>
            <a:ext cx="10414000" cy="244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625"/>
              </a:lnSpc>
              <a:spcBef>
                <a:spcPts val="0"/>
              </a:spcBef>
              <a:spcAft>
                <a:spcPts val="0"/>
              </a:spcAft>
              <a:defRPr sz="1300" b="0">
                <a:solidFill>
                  <a:srgbClr val="526C7B"/>
                </a:solidFill>
                <a:latin typeface="Arial"/>
              </a:defRPr>
            </a:pPr>
            <a:r>
              <a:t>Controller fix → seven green jobs → exact 06909ce EKS rollout, Helm release 2.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62103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7E80"/>
                </a:solidFill>
                <a:latin typeface="Arial"/>
              </a:defRPr>
            </a:pPr>
            <a:r>
              <a:rPr>
                <a:hlinkClick r:id="rId4"/>
              </a:rPr>
              <a:t>Open the actual seven-job green run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Arial"/>
              </a:defRPr>
            </a:pPr>
            <a:r>
              <a:t>06 · DEVSECOPS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2D42"/>
                </a:solidFill>
                <a:latin typeface="Arial"/>
              </a:defRPr>
            </a:pPr>
            <a:r>
              <a:t>The scan gate found a problem, then verified the repair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07 / 12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12800" y="1574800"/>
            <a:ext cx="4991100" cy="31750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8" name="TextBox 7"/>
          <p:cNvSpPr txBox="1"/>
          <p:nvPr/>
        </p:nvSpPr>
        <p:spPr>
          <a:xfrm>
            <a:off x="1092200" y="1841500"/>
            <a:ext cx="438150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C7B"/>
                </a:solidFill>
                <a:latin typeface="Arial"/>
              </a:defRPr>
            </a:pPr>
            <a:r>
              <a:t>Before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1092200" y="2298700"/>
            <a:ext cx="4381500" cy="4984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2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17364B"/>
                </a:solidFill>
                <a:latin typeface="Arial"/>
              </a:defRPr>
            </a:pPr>
            <a:r>
              <a:t>Strict scan failed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092200" y="3060700"/>
            <a:ext cx="4292600" cy="673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64B"/>
                </a:solidFill>
                <a:latin typeface="Arial"/>
              </a:defRPr>
            </a:pPr>
            <a:r>
              <a:t>Debian runtime findings were</a:t>
            </a:r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64B"/>
                </a:solidFill>
                <a:latin typeface="Arial"/>
              </a:defRPr>
            </a:pPr>
            <a:r>
              <a:t>preserved in the original report.</a:t>
            </a:r>
          </a:p>
        </p:txBody>
      </p:sp>
      <p:sp>
        <p:nvSpPr>
          <p:cNvPr id="11" name="Rounded Rectangle 10"/>
          <p:cNvSpPr/>
          <p:nvPr/>
        </p:nvSpPr>
        <p:spPr>
          <a:xfrm>
            <a:off x="6108700" y="1574800"/>
            <a:ext cx="5270500" cy="3175000"/>
          </a:xfrm>
          <a:prstGeom prst="roundRect">
            <a:avLst>
              <a:gd name="adj" fmla="val 12000"/>
            </a:avLst>
          </a:prstGeom>
          <a:solidFill>
            <a:srgbClr val="E4F1F2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2" name="TextBox 11"/>
          <p:cNvSpPr txBox="1"/>
          <p:nvPr/>
        </p:nvSpPr>
        <p:spPr>
          <a:xfrm>
            <a:off x="6388100" y="1841500"/>
            <a:ext cx="463550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007E80"/>
                </a:solidFill>
                <a:latin typeface="Arial"/>
              </a:defRPr>
            </a:pPr>
            <a:r>
              <a:t>After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388100" y="2298700"/>
            <a:ext cx="4635500" cy="498474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625"/>
              </a:lnSpc>
              <a:spcBef>
                <a:spcPts val="0"/>
              </a:spcBef>
              <a:spcAft>
                <a:spcPts val="0"/>
              </a:spcAft>
              <a:defRPr sz="2900" b="1">
                <a:solidFill>
                  <a:srgbClr val="007E80"/>
                </a:solidFill>
                <a:latin typeface="Arial"/>
              </a:defRPr>
            </a:pPr>
            <a:r>
              <a:t>4 strict gates passed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88100" y="3048000"/>
            <a:ext cx="4635500" cy="990599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64B"/>
                </a:solidFill>
                <a:latin typeface="Arial"/>
              </a:defRPr>
            </a:pPr>
            <a:r>
              <a:t>Backend + frontend</a:t>
            </a:r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64B"/>
                </a:solidFill>
                <a:latin typeface="Arial"/>
              </a:defRPr>
            </a:pPr>
            <a:r>
              <a:t>amd64 + arm64</a:t>
            </a:r>
          </a:p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17364B"/>
                </a:solidFill>
                <a:latin typeface="Arial"/>
              </a:defRPr>
            </a:pPr>
            <a:r>
              <a:t>No HIGH / CRITICAL allowed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5181600"/>
            <a:ext cx="10566400" cy="30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1">
                <a:solidFill>
                  <a:srgbClr val="17364B"/>
                </a:solidFill>
                <a:latin typeface="Arial"/>
              </a:defRPr>
            </a:pPr>
            <a:r>
              <a:t>Gate: --severity HIGH,CRITICAL --ignore-unfixed=false --exit-code 1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12800" y="5791200"/>
            <a:ext cx="1041400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C7B"/>
                </a:solidFill>
                <a:latin typeface="Arial"/>
              </a:defRPr>
            </a:pPr>
            <a:r>
              <a:t>A clean scan is evidence about that image at that time; it is not a security guarantee.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Arial"/>
              </a:defRPr>
            </a:pPr>
            <a:r>
              <a:t>07 · KUBERNETES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2D42"/>
                </a:solidFill>
                <a:latin typeface="Arial"/>
              </a:defRPr>
            </a:pPr>
            <a:r>
              <a:t>Helm release 2 ran on the dedicated EKS cluster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08 / 12</a:t>
            </a:r>
          </a:p>
        </p:txBody>
      </p:sp>
      <p:pic>
        <p:nvPicPr>
          <p:cNvPr id="7" name="Picture 6" descr="cloud-snapshot-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412385" y="1346200"/>
            <a:ext cx="7367229" cy="46609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2800" y="6121400"/>
            <a:ext cx="10414000" cy="228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500"/>
              </a:lnSpc>
              <a:spcBef>
                <a:spcPts val="0"/>
              </a:spcBef>
              <a:spcAft>
                <a:spcPts val="0"/>
              </a:spcAft>
              <a:defRPr sz="1200" b="0">
                <a:solidFill>
                  <a:srgbClr val="526C7B"/>
                </a:solidFill>
                <a:latin typeface="Arial"/>
              </a:defRPr>
            </a:pPr>
            <a:r>
              <a:t>Actual EKS: ClusterIP Services, bound gp3, completed migration and deployed Helm releases.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Arial"/>
              </a:defRPr>
            </a:pPr>
            <a:r>
              <a:t>08 · HPA AND TROUBLESHOOTING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2D42"/>
                </a:solidFill>
                <a:latin typeface="Arial"/>
              </a:defRPr>
            </a:pPr>
            <a:r>
              <a:t>Resilience was exercised, not only configured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09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562100"/>
            <a:ext cx="10414000" cy="736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5500"/>
              </a:lnSpc>
              <a:spcBef>
                <a:spcPts val="0"/>
              </a:spcBef>
              <a:spcAft>
                <a:spcPts val="0"/>
              </a:spcAft>
              <a:defRPr sz="4400" b="1">
                <a:solidFill>
                  <a:srgbClr val="007E80"/>
                </a:solidFill>
                <a:latin typeface="Arial"/>
              </a:defRPr>
            </a:pPr>
            <a:r>
              <a:t>2 → 4 Ready → 2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2387600"/>
            <a:ext cx="10414000" cy="355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500"/>
              </a:lnSpc>
              <a:spcBef>
                <a:spcPts val="0"/>
              </a:spcBef>
              <a:spcAft>
                <a:spcPts val="0"/>
              </a:spcAft>
              <a:defRPr sz="2000" b="0">
                <a:solidFill>
                  <a:srgbClr val="526C7B"/>
                </a:solidFill>
                <a:latin typeface="Arial"/>
              </a:defRPr>
            </a:pPr>
            <a:r>
              <a:t>Observed cloud API HPA response; one worker throughout.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12800" y="3111500"/>
            <a:ext cx="4991100" cy="1765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1066800" y="3352800"/>
            <a:ext cx="4445000" cy="434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64B"/>
                </a:solidFill>
                <a:latin typeface="Arial"/>
              </a:defRPr>
            </a:pPr>
            <a:r>
              <a:t>7,431 reads · 12 failures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1066800" y="3949700"/>
            <a:ext cx="4445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C7B"/>
                </a:solidFill>
                <a:latin typeface="Arial"/>
              </a:defRPr>
            </a:pPr>
            <a:r>
              <a:t>Separate lower-rate recovery: 40/40 HTTP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C7B"/>
                </a:solidFill>
                <a:latin typeface="Arial"/>
              </a:defRPr>
            </a:pPr>
            <a:r>
              <a:t>200. Burst failures retained.</a:t>
            </a:r>
          </a:p>
        </p:txBody>
      </p:sp>
      <p:sp>
        <p:nvSpPr>
          <p:cNvPr id="12" name="Rounded Rectangle 11"/>
          <p:cNvSpPr/>
          <p:nvPr/>
        </p:nvSpPr>
        <p:spPr>
          <a:xfrm>
            <a:off x="6108700" y="3111500"/>
            <a:ext cx="5270500" cy="1765300"/>
          </a:xfrm>
          <a:prstGeom prst="roundRect">
            <a:avLst>
              <a:gd name="adj" fmla="val 12000"/>
            </a:avLst>
          </a:prstGeom>
          <a:solidFill>
            <a:srgbClr val="FFFF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TextBox 12"/>
          <p:cNvSpPr txBox="1"/>
          <p:nvPr/>
        </p:nvSpPr>
        <p:spPr>
          <a:xfrm>
            <a:off x="6362700" y="3352800"/>
            <a:ext cx="4699000" cy="434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125"/>
              </a:lnSpc>
              <a:spcBef>
                <a:spcPts val="0"/>
              </a:spcBef>
              <a:spcAft>
                <a:spcPts val="0"/>
              </a:spcAft>
              <a:defRPr sz="2500" b="1">
                <a:solidFill>
                  <a:srgbClr val="17364B"/>
                </a:solidFill>
                <a:latin typeface="Arial"/>
              </a:defRPr>
            </a:pPr>
            <a:r>
              <a:t>200 → 502 → 200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362700" y="3949700"/>
            <a:ext cx="4699000" cy="6096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C7B"/>
                </a:solidFill>
                <a:latin typeface="Arial"/>
              </a:defRPr>
            </a:pPr>
            <a:r>
              <a:t>Service selector fault, diagnosis and real</a:t>
            </a:r>
          </a:p>
          <a:p>
            <a:pPr>
              <a:lnSpc>
                <a:spcPts val="2250"/>
              </a:lnSpc>
              <a:spcBef>
                <a:spcPts val="0"/>
              </a:spcBef>
              <a:spcAft>
                <a:spcPts val="0"/>
              </a:spcAft>
              <a:defRPr sz="1800" b="0">
                <a:solidFill>
                  <a:srgbClr val="526C7B"/>
                </a:solidFill>
                <a:latin typeface="Arial"/>
              </a:defRPr>
            </a:pPr>
            <a:r>
              <a:t>recovery.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12800" y="5499100"/>
            <a:ext cx="10414000" cy="29210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000"/>
              </a:lnSpc>
              <a:spcBef>
                <a:spcPts val="0"/>
              </a:spcBef>
              <a:spcAft>
                <a:spcPts val="0"/>
              </a:spcAft>
              <a:defRPr sz="1600" b="0">
                <a:solidFill>
                  <a:srgbClr val="526C7B"/>
                </a:solidFill>
                <a:latin typeface="Arial"/>
              </a:defRPr>
            </a:pPr>
            <a:r>
              <a:t>Actual cloud records retained. Earlier local 2,338 reads / 0 failures are separate evidence.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Arial"/>
              </a:defRPr>
            </a:pPr>
            <a:r>
              <a:t>09 · OBSERVABILITY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2D42"/>
                </a:solidFill>
                <a:latin typeface="Arial"/>
              </a:defRPr>
            </a:pPr>
            <a:r>
              <a:t>Actual application scraping is healthy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10 / 12</a:t>
            </a:r>
          </a:p>
        </p:txBody>
      </p:sp>
      <p:pic>
        <p:nvPicPr>
          <p:cNvPr id="7" name="Picture 6" descr="cloud-verification-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572" y="1320800"/>
            <a:ext cx="6724854" cy="4254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2800" y="5702300"/>
            <a:ext cx="104140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C7B"/>
                </a:solidFill>
                <a:latin typeface="Arial"/>
              </a:defRPr>
            </a:pPr>
            <a:r>
              <a:t>Cloud: 16/16 targets UP at capture time; actual CRUD and Service recovery retained.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6057900"/>
            <a:ext cx="104140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1">
                <a:solidFill>
                  <a:srgbClr val="007E80"/>
                </a:solidFill>
                <a:latin typeface="Arial"/>
              </a:defRPr>
            </a:pPr>
            <a:r>
              <a:t>Grafana: real API data verified; populated browser-panel capture still pending login.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Arial"/>
              </a:defRPr>
            </a:pPr>
            <a:r>
              <a:t>10 · TERRAFORM AND LIFECYCLE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2D42"/>
                </a:solidFill>
                <a:latin typeface="Arial"/>
              </a:defRPr>
            </a:pPr>
            <a:r>
              <a:t>Real AWS deployment, then verified cleanup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11 / 12</a:t>
            </a:r>
          </a:p>
        </p:txBody>
      </p:sp>
      <p:pic>
        <p:nvPicPr>
          <p:cNvPr id="7" name="Picture 6" descr="terraform-destroy-terminal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733572" y="1320800"/>
            <a:ext cx="6724854" cy="4254500"/>
          </a:xfrm>
          <a:prstGeom prst="rect">
            <a:avLst/>
          </a:prstGeom>
        </p:spPr>
      </p:pic>
      <p:sp>
        <p:nvSpPr>
          <p:cNvPr id="8" name="TextBox 7"/>
          <p:cNvSpPr txBox="1"/>
          <p:nvPr/>
        </p:nvSpPr>
        <p:spPr>
          <a:xfrm>
            <a:off x="812800" y="5702300"/>
            <a:ext cx="10566400" cy="2762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875"/>
              </a:lnSpc>
              <a:spcBef>
                <a:spcPts val="0"/>
              </a:spcBef>
              <a:spcAft>
                <a:spcPts val="0"/>
              </a:spcAft>
              <a:defRPr sz="1500" b="1">
                <a:solidFill>
                  <a:srgbClr val="007E80"/>
                </a:solidFill>
                <a:latin typeface="Arial"/>
              </a:defRPr>
            </a:pPr>
            <a:r>
              <a:t>62 created → real runtime verified → 62 destroyed; pre-existing resources preserved.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6057900"/>
            <a:ext cx="10566400" cy="260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750"/>
              </a:lnSpc>
              <a:spcBef>
                <a:spcPts val="0"/>
              </a:spcBef>
              <a:spcAft>
                <a:spcPts val="0"/>
              </a:spcAft>
              <a:defRPr sz="1400" b="0">
                <a:solidFill>
                  <a:srgbClr val="526C7B"/>
                </a:solidFill>
                <a:latin typeface="Arial"/>
              </a:defRPr>
            </a:pPr>
            <a:r>
              <a:t>Planning estimate about US$2.43 before tax; actual final AWS bill is not yet verified.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solidFill>
            <a:srgbClr val="F4F8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812800" y="3302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1">
                <a:solidFill>
                  <a:srgbClr val="007E80"/>
                </a:solidFill>
                <a:latin typeface="Arial"/>
              </a:defRPr>
            </a:pPr>
            <a:r>
              <a:t>11 · HANDOFF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12800" y="609600"/>
            <a:ext cx="10414000" cy="5143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3750"/>
              </a:lnSpc>
              <a:spcBef>
                <a:spcPts val="0"/>
              </a:spcBef>
              <a:spcAft>
                <a:spcPts val="0"/>
              </a:spcAft>
              <a:defRPr sz="3000" b="1">
                <a:solidFill>
                  <a:srgbClr val="102D42"/>
                </a:solidFill>
                <a:latin typeface="Arial"/>
              </a:defRPr>
            </a:pPr>
            <a:r>
              <a:t>Present the verified work and its limits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812800" y="6502400"/>
            <a:ext cx="7620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Jaivardhan D Rao · 10117 · Group A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0693400" y="6502400"/>
            <a:ext cx="889000" cy="196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250"/>
              </a:lnSpc>
              <a:spcBef>
                <a:spcPts val="0"/>
              </a:spcBef>
              <a:spcAft>
                <a:spcPts val="0"/>
              </a:spcAft>
              <a:defRPr sz="1000" b="0">
                <a:solidFill>
                  <a:srgbClr val="526C7B"/>
                </a:solidFill>
                <a:latin typeface="Arial"/>
              </a:defRPr>
            </a:pPr>
            <a:r>
              <a:t>12 / 12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12800" y="1473200"/>
            <a:ext cx="10414000" cy="371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364B"/>
                </a:solidFill>
                <a:latin typeface="Arial"/>
              </a:defRPr>
            </a:pPr>
            <a:r>
              <a:t>Verified and reproducible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2800" y="1866899"/>
            <a:ext cx="10414000" cy="30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C7B"/>
                </a:solidFill>
                <a:latin typeface="Arial"/>
              </a:defRPr>
            </a:pPr>
            <a:r>
              <a:t>Original app, seven green CI jobs, exact-SHA EKS rollout, real metrics, recovery and verified cleanup.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2800" y="2365375"/>
            <a:ext cx="10414000" cy="371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364B"/>
                </a:solidFill>
                <a:latin typeface="Arial"/>
              </a:defRPr>
            </a:pPr>
            <a:r>
              <a:t>Remaining evidence limits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2800" y="2759075"/>
            <a:ext cx="10414000" cy="577850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C7B"/>
                </a:solidFill>
                <a:latin typeface="Arial"/>
              </a:defRPr>
            </a:pPr>
            <a:r>
              <a:t>Private browser captures need publication approval. Populated Grafana and the full student live walkthrough</a:t>
            </a:r>
          </a:p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C7B"/>
                </a:solidFill>
                <a:latin typeface="Arial"/>
              </a:defRPr>
            </a:pPr>
            <a:r>
              <a:t>remain separate.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2800" y="3527425"/>
            <a:ext cx="10414000" cy="3714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625"/>
              </a:lnSpc>
              <a:spcBef>
                <a:spcPts val="0"/>
              </a:spcBef>
              <a:spcAft>
                <a:spcPts val="0"/>
              </a:spcAft>
              <a:defRPr sz="2100" b="1">
                <a:solidFill>
                  <a:srgbClr val="17364B"/>
                </a:solidFill>
                <a:latin typeface="Arial"/>
              </a:defRPr>
            </a:pPr>
            <a:r>
              <a:t>Continue in the final repository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2800" y="3921125"/>
            <a:ext cx="10414000" cy="30797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2125"/>
              </a:lnSpc>
              <a:spcBef>
                <a:spcPts val="0"/>
              </a:spcBef>
              <a:spcAft>
                <a:spcPts val="0"/>
              </a:spcAft>
              <a:defRPr sz="1700" b="0">
                <a:solidFill>
                  <a:srgbClr val="526C7B"/>
                </a:solidFill>
                <a:latin typeface="Arial"/>
              </a:defRPr>
            </a:pPr>
            <a:r>
              <a:t>The student reported manual form submission. No further form action or receipt is claimed.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2800" y="6096000"/>
            <a:ext cx="10414000" cy="212725"/>
          </a:xfrm>
          <a:prstGeom prst="rect">
            <a:avLst/>
          </a:prstGeom>
          <a:noFill/>
        </p:spPr>
        <p:txBody>
          <a:bodyPr wrap="none" lIns="0" rIns="0" tIns="0" bIns="0">
            <a:spAutoFit/>
          </a:bodyPr>
          <a:lstStyle/>
          <a:p>
            <a:pPr>
              <a:lnSpc>
                <a:spcPts val="1375"/>
              </a:lnSpc>
              <a:spcBef>
                <a:spcPts val="0"/>
              </a:spcBef>
              <a:spcAft>
                <a:spcPts val="0"/>
              </a:spcAft>
              <a:defRPr sz="1100" b="0">
                <a:solidFill>
                  <a:srgbClr val="007E80"/>
                </a:solidFill>
                <a:latin typeface="Arial"/>
              </a:defRPr>
            </a:pPr>
            <a:r>
              <a:rPr>
                <a:hlinkClick r:id="rId3"/>
              </a:rPr>
              <a:t>Public repository and complete evidence index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LabLedger — DevOps Capstone</dc:title>
  <dc:subject/>
  <dc:creator>Jaivardhan D Rao</dc:creator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